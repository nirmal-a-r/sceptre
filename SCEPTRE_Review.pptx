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69164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800" b="1" i="0">
                <a:solidFill>
                  <a:srgbClr val="000000"/>
                </a:solidFill>
                <a:latin typeface="Calibri"/>
              </a:rPr>
              <a:t>SCEPTRE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A Recursive Separator-Tree Defence for Load Frequency Control under Stealthy False Data Injection Attacks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3429000"/>
            <a:ext cx="10543032" cy="0"/>
          </a:xfrm>
          <a:prstGeom prst="line">
            <a:avLst/>
          </a:prstGeom>
          <a:ln w="1143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3703320"/>
            <a:ext cx="58521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606060"/>
                </a:solidFill>
                <a:latin typeface="Calibri"/>
              </a:rPr>
              <a:t>BATCH A-17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A. R. Nirmal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Gunnala Dheeraj Kumar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Meera S Raj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Vishnu Vardhan 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3703320"/>
            <a:ext cx="45720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200" b="1" i="0">
                <a:solidFill>
                  <a:srgbClr val="606060"/>
                </a:solidFill>
                <a:latin typeface="Calibri"/>
              </a:rPr>
              <a:t>23AID304 - High-Performance and Cloud Computing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Base paper: Cui, Wu and Zhang,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606060"/>
                </a:solidFill>
                <a:latin typeface="Calibri"/>
              </a:rPr>
              <a:t>IEEE Trans. Smart Grid, 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42823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606060"/>
                </a:solidFill>
                <a:latin typeface="Calibri"/>
              </a:rPr>
              <a:t>SCEPTRE  -  Load Frequency Control under stealthy FDI                                                                                          1 / 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00000"/>
                </a:solidFill>
                <a:latin typeface="Calibri"/>
              </a:rPr>
              <a:t>Problem Statement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32688"/>
            <a:ext cx="11064240" cy="0"/>
          </a:xfrm>
          <a:prstGeom prst="line">
            <a:avLst/>
          </a:prstGeom>
          <a:ln w="1143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2823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606060"/>
                </a:solidFill>
                <a:latin typeface="Calibri"/>
              </a:rPr>
              <a:t>SCEPTRE  ·  Load Frequency Control under stealthy FDI                                                                                          2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52728"/>
            <a:ext cx="594360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A1A"/>
                </a:solidFill>
                <a:latin typeface="Calibri"/>
              </a:rPr>
              <a:t>•  Base paper's attack is trivial - roughly doubles a measurement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A1A"/>
                </a:solidFill>
                <a:latin typeface="Calibri"/>
              </a:rPr>
              <a:t>•  Validated only on IEEE 14-bus - no evidence at real grid scale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A1A"/>
                </a:solidFill>
                <a:latin typeface="Calibri"/>
              </a:rPr>
              <a:t>•  Repair compared only against random forest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A1A"/>
                </a:solidFill>
                <a:latin typeface="Calibri"/>
              </a:rPr>
              <a:t>•  Plant is fully linear - no real-world nonlinearity modelled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1572768"/>
            <a:ext cx="475488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600" b="1" i="0">
                <a:solidFill>
                  <a:srgbClr val="000000"/>
                </a:solidFill>
                <a:latin typeface="Calibri"/>
              </a:rPr>
              <a:t>18,087x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606060"/>
                </a:solidFill>
                <a:latin typeface="Calibri"/>
              </a:rPr>
              <a:t>the base paper's attack scores this many times over a bad-data detection threshold that has existed since the 1970s</a:t>
            </a:r>
          </a:p>
          <a:p>
            <a:pPr algn="l">
              <a:spcBef>
                <a:spcPts val="1400"/>
              </a:spcBef>
              <a:spcAft>
                <a:spcPts val="5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A stealthier attack - invisible to that same test - is what actually needs a learned defence.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00000"/>
                </a:solidFill>
                <a:latin typeface="Calibri"/>
              </a:rPr>
              <a:t>Literature Survey 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96112"/>
            <a:ext cx="110642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1">
                <a:solidFill>
                  <a:srgbClr val="606060"/>
                </a:solidFill>
                <a:latin typeface="Calibri"/>
              </a:rPr>
              <a:t>Base paper and closest related work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43584"/>
            <a:ext cx="11064240" cy="0"/>
          </a:xfrm>
          <a:prstGeom prst="line">
            <a:avLst/>
          </a:prstGeom>
          <a:ln w="1143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642823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606060"/>
                </a:solidFill>
                <a:latin typeface="Calibri"/>
              </a:rPr>
              <a:t>SCEPTRE  ·  Load Frequency Control under stealthy FDI                                                                                          3 / 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09344"/>
          <a:ext cx="11064240" cy="23949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572000"/>
                <a:gridCol w="411480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Calibri"/>
                        </a:rPr>
                        <a:t>Ref.</a:t>
                      </a:r>
                    </a:p>
                  </a:txBody>
                  <a:tcPr marL="54864" marR="54864" marT="13716" marB="13716" anchor="ctr">
                    <a:solidFill>
                      <a:srgbClr val="EEEE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Calibri"/>
                        </a:rPr>
                        <a:t>Contribution</a:t>
                      </a:r>
                    </a:p>
                  </a:txBody>
                  <a:tcPr marL="54864" marR="54864" marT="13716" marB="13716" anchor="ctr">
                    <a:solidFill>
                      <a:srgbClr val="EEEE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Calibri"/>
                        </a:rPr>
                        <a:t>Gap</a:t>
                      </a:r>
                    </a:p>
                  </a:txBody>
                  <a:tcPr marL="54864" marR="54864" marT="13716" marB="13716" anchor="ctr">
                    <a:solidFill>
                      <a:srgbClr val="EEEEEE"/>
                    </a:solidFill>
                  </a:tcPr>
                </a:tc>
              </a:tr>
              <a:tr h="749045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Cui, Wu and Zhang
IEEE TSG, 2025 - base paper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First unified detect-repair-control loop for LFC, 99.78% accuracy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Trivial attack, single topology, DC power flow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Feng, Han, Si and Zhao
IEEE TIM, 2024</a:t>
                      </a:r>
                    </a:p>
                  </a:txBody>
                  <a:tcPr marL="54864" marR="54864" marT="13716" marB="13716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Adaptive adversarial autoencoder with graph learning</a:t>
                      </a:r>
                    </a:p>
                  </a:txBody>
                  <a:tcPr marL="54864" marR="54864" marT="13716" marB="13716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Detection only - no repair or control</a:t>
                      </a:r>
                    </a:p>
                  </a:txBody>
                  <a:tcPr marL="54864" marR="54864" marT="13716" marB="13716" anchor="ctr">
                    <a:solidFill>
                      <a:srgbClr val="F8F8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Qu et al.
Applied Energy, 2024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Graph wavelet CNN for attack localization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Scans every bus - O(N) cost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00000"/>
                </a:solidFill>
                <a:latin typeface="Calibri"/>
              </a:rPr>
              <a:t>Literature Survey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96112"/>
            <a:ext cx="110642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1">
                <a:solidFill>
                  <a:srgbClr val="606060"/>
                </a:solidFill>
                <a:latin typeface="Calibri"/>
              </a:rPr>
              <a:t>2023-2025 baselines and the gap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43584"/>
            <a:ext cx="11064240" cy="0"/>
          </a:xfrm>
          <a:prstGeom prst="line">
            <a:avLst/>
          </a:prstGeom>
          <a:ln w="1143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642823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606060"/>
                </a:solidFill>
                <a:latin typeface="Calibri"/>
              </a:rPr>
              <a:t>SCEPTRE  ·  Load Frequency Control under stealthy FDI                                                                                          4 / 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09344"/>
          <a:ext cx="1106424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603504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Calibri"/>
                        </a:rPr>
                        <a:t>Ref.</a:t>
                      </a:r>
                    </a:p>
                  </a:txBody>
                  <a:tcPr marL="54864" marR="54864" marT="13716" marB="13716" anchor="ctr">
                    <a:solidFill>
                      <a:srgbClr val="EEEE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marL="54864" marR="54864" marT="13716" marB="13716" anchor="ctr">
                    <a:solidFill>
                      <a:srgbClr val="EEEE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ST-Transformer - Expert Syst. Appl., 2023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Full attention + positional embedding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GraphKAN - Scientific Reports, 2025</a:t>
                      </a:r>
                    </a:p>
                  </a:txBody>
                  <a:tcPr marL="54864" marR="54864" marT="13716" marB="13716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Graph attention + Kolmogorov-Arnold network</a:t>
                      </a:r>
                    </a:p>
                  </a:txBody>
                  <a:tcPr marL="54864" marR="54864" marT="13716" marB="13716" anchor="ctr">
                    <a:solidFill>
                      <a:srgbClr val="F8F8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KAN-AGC - arXiv, 2025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Interpretable spline network for attack detection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KambaAD - OpenReview, 2024</a:t>
                      </a:r>
                    </a:p>
                  </a:txBody>
                  <a:tcPr marL="54864" marR="54864" marT="13716" marB="13716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Mamba state-space model for anomaly detection</a:t>
                      </a:r>
                    </a:p>
                  </a:txBody>
                  <a:tcPr marL="54864" marR="54864" marT="13716" marB="13716" anchor="ctr">
                    <a:solidFill>
                      <a:srgbClr val="F8F8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535424"/>
            <a:ext cx="110642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1A1A1A"/>
                </a:solidFill>
                <a:latin typeface="Calibri"/>
              </a:rPr>
              <a:t>No prior work uses nested-dissection / separator-tree structure as a neural inductive bias for FDI detection.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00000"/>
                </a:solidFill>
                <a:latin typeface="Calibri"/>
              </a:rPr>
              <a:t>Why the Graph Neural Network Was Removed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32688"/>
            <a:ext cx="11064240" cy="0"/>
          </a:xfrm>
          <a:prstGeom prst="line">
            <a:avLst/>
          </a:prstGeom>
          <a:ln w="1143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2823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606060"/>
                </a:solidFill>
                <a:latin typeface="Calibri"/>
              </a:rPr>
              <a:t>SCEPTRE  ·  Load Frequency Control under stealthy FDI                                                                                          5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984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A pre-registered experiment tested topology-aware attention - and it failed in all 4 test cells (n = 5 seeds).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2304288"/>
          <a:ext cx="640080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8256"/>
                <a:gridCol w="2176272"/>
                <a:gridCol w="2176272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Calibri"/>
                        </a:rPr>
                        <a:t>System</a:t>
                      </a:r>
                    </a:p>
                  </a:txBody>
                  <a:tcPr marL="54864" marR="54864" marT="13716" marB="13716" anchor="ctr">
                    <a:solidFill>
                      <a:srgbClr val="EEEE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Calibri"/>
                        </a:rPr>
                        <a:t>Graph diameter</a:t>
                      </a:r>
                    </a:p>
                  </a:txBody>
                  <a:tcPr marL="54864" marR="54864" marT="13716" marB="13716" anchor="ctr">
                    <a:solidFill>
                      <a:srgbClr val="EEEE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Calibri"/>
                        </a:rPr>
                        <a:t>2-layer GNN sees</a:t>
                      </a:r>
                    </a:p>
                  </a:txBody>
                  <a:tcPr marL="54864" marR="54864" marT="13716" marB="13716" anchor="ctr">
                    <a:solidFill>
                      <a:srgbClr val="EEEEEE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case14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5 hops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57%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case30</a:t>
                      </a:r>
                    </a:p>
                  </a:txBody>
                  <a:tcPr marL="54864" marR="54864" marT="13716" marB="13716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6 hops</a:t>
                      </a:r>
                    </a:p>
                  </a:txBody>
                  <a:tcPr marL="54864" marR="54864" marT="13716" marB="13716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 marL="54864" marR="54864" marT="13716" marB="13716" anchor="ctr">
                    <a:solidFill>
                      <a:srgbClr val="F8F8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case118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14 hops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223760" y="2441448"/>
            <a:ext cx="438912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1" i="0">
                <a:solidFill>
                  <a:srgbClr val="1A1A1A"/>
                </a:solidFill>
                <a:latin typeface="Calibri"/>
              </a:rPr>
              <a:t>Message passing loses information as the grid grows.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Our fix: encode the grid the way a sparse solver factorises it - by recursive dissection, not by passing messages along edges.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00000"/>
                </a:solidFill>
                <a:latin typeface="Calibri"/>
              </a:rPr>
              <a:t>Contributions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32688"/>
            <a:ext cx="11064240" cy="0"/>
          </a:xfrm>
          <a:prstGeom prst="line">
            <a:avLst/>
          </a:prstGeom>
          <a:ln w="1143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2823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606060"/>
                </a:solidFill>
                <a:latin typeface="Calibri"/>
              </a:rPr>
              <a:t>SCEPTRE  ·  Load Frequency Control under stealthy FDI                                                                                          6 / 14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98448"/>
          <a:ext cx="1106424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10241280"/>
              </a:tblGrid>
              <a:tr h="512064">
                <a:tc>
                  <a:txBody>
                    <a:bodyPr wrap="square"/>
                    <a:lstStyle/>
                    <a:p/>
                  </a:txBody>
                  <a:tcPr marL="54864" marR="54864" marT="13716" marB="13716" anchor="ctr">
                    <a:solidFill>
                      <a:srgbClr val="EEEE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Calibri"/>
                        </a:rPr>
                        <a:t>Contribution</a:t>
                      </a:r>
                    </a:p>
                  </a:txBody>
                  <a:tcPr marL="54864" marR="54864" marT="13716" marB="13716" anchor="ctr">
                    <a:solidFill>
                      <a:srgbClr val="EEEEEE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C1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RSTE - recursive separator-tree encoder, replaces the GNN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C2</a:t>
                      </a:r>
                    </a:p>
                  </a:txBody>
                  <a:tcPr marL="54864" marR="54864" marT="13716" marB="13716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HALO - attack localization in O(k log N) instead of O(N)</a:t>
                      </a:r>
                    </a:p>
                  </a:txBody>
                  <a:tcPr marL="54864" marR="54864" marT="13716" marB="13716" anchor="ctr">
                    <a:solidFill>
                      <a:srgbClr val="F8F8F8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C3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NL-LFC - a genuinely nonlinear LFC benchmark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C4</a:t>
                      </a:r>
                    </a:p>
                  </a:txBody>
                  <a:tcPr marL="54864" marR="54864" marT="13716" marB="13716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Blind-spot certificate rho(m) - a provable detection guarantee</a:t>
                      </a:r>
                    </a:p>
                  </a:txBody>
                  <a:tcPr marL="54864" marR="54864" marT="13716" marB="13716" anchor="ctr">
                    <a:solidFill>
                      <a:srgbClr val="F8F8F8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C5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Stackelberg attacker + safety shield with calibrated uncertainty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00000"/>
                </a:solidFill>
                <a:latin typeface="Calibri"/>
              </a:rPr>
              <a:t>Proposed System - SCEPTRE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32688"/>
            <a:ext cx="11064240" cy="0"/>
          </a:xfrm>
          <a:prstGeom prst="line">
            <a:avLst/>
          </a:prstGeom>
          <a:ln w="1143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2823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606060"/>
                </a:solidFill>
                <a:latin typeface="Calibri"/>
              </a:rPr>
              <a:t>SCEPTRE  ·  Load Frequency Control under stealthy FDI                                                                                          7 / 14</a:t>
            </a:r>
          </a:p>
        </p:txBody>
      </p:sp>
      <p:pic>
        <p:nvPicPr>
          <p:cNvPr id="5" name="Picture 4" descr="fig16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0966" y="1152144"/>
            <a:ext cx="8149762" cy="51572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00000"/>
                </a:solidFill>
                <a:latin typeface="Calibri"/>
              </a:rPr>
              <a:t>C1 - RSTE: Recursive Separator-Tree Encoder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32688"/>
            <a:ext cx="11064240" cy="0"/>
          </a:xfrm>
          <a:prstGeom prst="line">
            <a:avLst/>
          </a:prstGeom>
          <a:ln w="1143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2823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606060"/>
                </a:solidFill>
                <a:latin typeface="Calibri"/>
              </a:rPr>
              <a:t>SCEPTRE  ·  Load Frequency Control under stealthy FDI                                                                                          8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98448"/>
            <a:ext cx="576072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•  Splits the grid recursively at its weakest electrical connections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•  Same weights reused at every level - parameters do not depend on grid size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•  Any two buses reach each other in O(log N) hops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•  Trained once on 14 buses, runs unchanged on 118 buses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0" y="1572768"/>
          <a:ext cx="4937759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463040"/>
                <a:gridCol w="2011679"/>
              </a:tblGrid>
              <a:tr h="384048">
                <a:tc>
                  <a:txBody>
                    <a:bodyPr wrap="square"/>
                    <a:lstStyle/>
                    <a:p/>
                  </a:txBody>
                  <a:tcPr marL="54864" marR="54864" marT="13716" marB="13716" anchor="ctr">
                    <a:solidFill>
                      <a:srgbClr val="EEEE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Calibri"/>
                        </a:rPr>
                        <a:t>case14</a:t>
                      </a:r>
                    </a:p>
                  </a:txBody>
                  <a:tcPr marL="54864" marR="54864" marT="13716" marB="13716" anchor="ctr">
                    <a:solidFill>
                      <a:srgbClr val="EEEE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Calibri"/>
                        </a:rPr>
                        <a:t>case118</a:t>
                      </a:r>
                    </a:p>
                  </a:txBody>
                  <a:tcPr marL="54864" marR="54864" marT="13716" marB="13716" anchor="ctr">
                    <a:solidFill>
                      <a:srgbClr val="EEEEEE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Tree depth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Parameters</a:t>
                      </a:r>
                    </a:p>
                  </a:txBody>
                  <a:tcPr marL="54864" marR="54864" marT="13716" marB="13716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116,614</a:t>
                      </a:r>
                    </a:p>
                  </a:txBody>
                  <a:tcPr marL="54864" marR="54864" marT="13716" marB="13716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116,614 (same)</a:t>
                      </a:r>
                    </a:p>
                  </a:txBody>
                  <a:tcPr marL="54864" marR="54864" marT="13716" marB="13716" anchor="ctr">
                    <a:solidFill>
                      <a:srgbClr val="F8F8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00000"/>
                </a:solidFill>
                <a:latin typeface="Calibri"/>
              </a:rPr>
              <a:t>C2 - HALO: Fast Attack Localization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32688"/>
            <a:ext cx="11064240" cy="0"/>
          </a:xfrm>
          <a:prstGeom prst="line">
            <a:avLst/>
          </a:prstGeom>
          <a:ln w="1143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2823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606060"/>
                </a:solidFill>
                <a:latin typeface="Calibri"/>
              </a:rPr>
              <a:t>SCEPTRE  ·  Load Frequency Control under stealthy FDI                                                                                          9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98448"/>
            <a:ext cx="594360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•  Standard approach: test every single bus - O(N) cost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•  HALO reuses the separator tree as a search structure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•  Tests only the branches that show a statistical signal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•  Cost drops to O(k log N) for k attacked buses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1755648"/>
            <a:ext cx="47548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400" b="1" i="0">
                <a:solidFill>
                  <a:srgbClr val="000000"/>
                </a:solidFill>
                <a:latin typeface="Calibri"/>
              </a:rPr>
              <a:t>~11x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606060"/>
                </a:solidFill>
                <a:latin typeface="Calibri"/>
              </a:rPr>
              <a:t>fewer checks needed on a 118-bus grid, compared to testing every bus individually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00000"/>
                </a:solidFill>
                <a:latin typeface="Calibri"/>
              </a:rPr>
              <a:t>C3 - NL-LFC: A Realistic Grid Model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32688"/>
            <a:ext cx="11064240" cy="0"/>
          </a:xfrm>
          <a:prstGeom prst="line">
            <a:avLst/>
          </a:prstGeom>
          <a:ln w="1143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2823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606060"/>
                </a:solidFill>
                <a:latin typeface="Calibri"/>
              </a:rPr>
              <a:t>SCEPTRE  ·  Load Frequency Control under stealthy FDI                                                                                          10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984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The base paper's grid model is linear. Real grids are not.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212848"/>
            <a:ext cx="1106424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•  Full AC power flow instead of a linear approximation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•  Governor dead-band, rate limits, and reheat turbine dynamics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•  Renewable generation modelled as realistic random fluctuation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•  Communication delay, sensor noise, and quantization on every reading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00000"/>
                </a:solidFill>
                <a:latin typeface="Calibri"/>
              </a:rPr>
              <a:t>Experimental Setup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32688"/>
            <a:ext cx="11064240" cy="0"/>
          </a:xfrm>
          <a:prstGeom prst="line">
            <a:avLst/>
          </a:prstGeom>
          <a:ln w="1143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2823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606060"/>
                </a:solidFill>
                <a:latin typeface="Calibri"/>
              </a:rPr>
              <a:t>SCEPTRE  ·  Load Frequency Control under stealthy FDI                                                                                          11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98448"/>
            <a:ext cx="1106424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A1A"/>
                </a:solidFill>
                <a:latin typeface="Calibri"/>
              </a:rPr>
              <a:t>•  IEEE 14 / 30 / 57 / 118-bus test systems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A1A"/>
                </a:solidFill>
                <a:latin typeface="Calibri"/>
              </a:rPr>
              <a:t>•  10 architectures compared under identical conditions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A1A"/>
                </a:solidFill>
                <a:latin typeface="Calibri"/>
              </a:rPr>
              <a:t>•  3 random seeds; results reported as mean plus/minus standard deviation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A1A"/>
                </a:solidFill>
                <a:latin typeface="Calibri"/>
              </a:rPr>
              <a:t>•  Hardware: NVIDIA RTX 5060 (Blackwell), PyTorch, Python 3.10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00000"/>
                </a:solidFill>
                <a:latin typeface="Calibri"/>
              </a:rPr>
              <a:t>Results - Detection Benchmark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96112"/>
            <a:ext cx="110642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1">
                <a:solidFill>
                  <a:srgbClr val="606060"/>
                </a:solidFill>
                <a:latin typeface="Calibri"/>
              </a:rPr>
              <a:t>IEEE 14-bus, 3 seeds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43584"/>
            <a:ext cx="11064240" cy="0"/>
          </a:xfrm>
          <a:prstGeom prst="line">
            <a:avLst/>
          </a:prstGeom>
          <a:ln w="1143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642823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606060"/>
                </a:solidFill>
                <a:latin typeface="Calibri"/>
              </a:rPr>
              <a:t>SCEPTRE  ·  Load Frequency Control under stealthy FDI                                                                                          12 / 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09344"/>
          <a:ext cx="6035038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7257"/>
                <a:gridCol w="1872943"/>
                <a:gridCol w="1664838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54864" marR="54864" marT="13716" marB="13716" anchor="ctr">
                    <a:solidFill>
                      <a:srgbClr val="EEEE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Calibri"/>
                        </a:rPr>
                        <a:t>Detection F1</a:t>
                      </a:r>
                    </a:p>
                  </a:txBody>
                  <a:tcPr marL="54864" marR="54864" marT="13716" marB="13716" anchor="ctr">
                    <a:solidFill>
                      <a:srgbClr val="EEEE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Calibri"/>
                        </a:rPr>
                        <a:t>Params</a:t>
                      </a:r>
                    </a:p>
                  </a:txBody>
                  <a:tcPr marL="54864" marR="54864" marT="13716" marB="13716" anchor="ctr">
                    <a:solidFill>
                      <a:srgbClr val="EEEEE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GCN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0.982 +/- 0.004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929,670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SCEPTRE (ours)</a:t>
                      </a:r>
                    </a:p>
                  </a:txBody>
                  <a:tcPr marL="54864" marR="54864" marT="13716" marB="13716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0.982 +/- 0.008</a:t>
                      </a:r>
                    </a:p>
                  </a:txBody>
                  <a:tcPr marL="54864" marR="54864" marT="13716" marB="13716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1,447,110</a:t>
                      </a:r>
                    </a:p>
                  </a:txBody>
                  <a:tcPr marL="54864" marR="54864" marT="13716" marB="13716" anchor="ctr">
                    <a:solidFill>
                      <a:srgbClr val="F8F8F8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MSA3E (base paper)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0.974 +/- 0.003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1,380,870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MLP (no topology)</a:t>
                      </a:r>
                    </a:p>
                  </a:txBody>
                  <a:tcPr marL="54864" marR="54864" marT="13716" marB="13716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0.986 +/- 0.003</a:t>
                      </a:r>
                    </a:p>
                  </a:txBody>
                  <a:tcPr marL="54864" marR="54864" marT="13716" marB="13716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935,046</a:t>
                      </a:r>
                    </a:p>
                  </a:txBody>
                  <a:tcPr marL="54864" marR="54864" marT="13716" marB="13716" anchor="ctr">
                    <a:solidFill>
                      <a:srgbClr val="F8F8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803904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606060"/>
                </a:solidFill>
                <a:latin typeface="Calibri"/>
              </a:rPr>
              <a:t>SCEPTRE beats the base paper significantly, though a plain GCN edges it on this small grid - expected, since the bottleneck SCEPTRE fixes only bites on larger grids.</a:t>
            </a:r>
          </a:p>
        </p:txBody>
      </p:sp>
      <p:pic>
        <p:nvPicPr>
          <p:cNvPr id="8" name="Picture 7" descr="fig10_trans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563624"/>
            <a:ext cx="4709160" cy="141642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903720" y="3016627"/>
            <a:ext cx="4709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606060"/>
                </a:solidFill>
                <a:latin typeface="Calibri"/>
              </a:rPr>
              <a:t>Zero-shot transfer: trained on 14 buses, tested on 118.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00000"/>
                </a:solidFill>
                <a:latin typeface="Calibri"/>
              </a:rPr>
              <a:t>Results - What Actually Sets SCEPTRE Apart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32688"/>
            <a:ext cx="11064240" cy="0"/>
          </a:xfrm>
          <a:prstGeom prst="line">
            <a:avLst/>
          </a:prstGeom>
          <a:ln w="1143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2823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606060"/>
                </a:solidFill>
                <a:latin typeface="Calibri"/>
              </a:rPr>
              <a:t>SCEPTRE  ·  Load Frequency Control under stealthy FDI                                                                                          13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98448"/>
            <a:ext cx="1106424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A1A"/>
                </a:solidFill>
                <a:latin typeface="Calibri"/>
              </a:rPr>
              <a:t>•  Same trained model runs on 14, 30, 57, and 118 buses with zero retraining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A1A"/>
                </a:solidFill>
                <a:latin typeface="Calibri"/>
              </a:rPr>
              <a:t>•  5 of 10 baseline architectures cannot transfer to a new grid size at all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A1A"/>
                </a:solidFill>
                <a:latin typeface="Calibri"/>
              </a:rPr>
              <a:t>•  Attack localization cost grows logarithmically, not linearly, with grid size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A1A"/>
                </a:solidFill>
                <a:latin typeface="Calibri"/>
              </a:rPr>
              <a:t>•  Chi-square residual test catches 0% of stealthy attacks - SCEPTRE's certificate is what actually bounds the risk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00000"/>
                </a:solidFill>
                <a:latin typeface="Calibri"/>
              </a:rPr>
              <a:t>Conclusion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32688"/>
            <a:ext cx="11064240" cy="0"/>
          </a:xfrm>
          <a:prstGeom prst="line">
            <a:avLst/>
          </a:prstGeom>
          <a:ln w="1143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2823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606060"/>
                </a:solidFill>
                <a:latin typeface="Calibri"/>
              </a:rPr>
              <a:t>SCEPTRE  ·  Load Frequency Control under stealthy FDI                                                                                          14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44168"/>
            <a:ext cx="1106424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Encode a power grid the way a sparse solver factorises it - by recursive dissection - not the way a social network is encoded, by passing messages along edges.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800" b="0" i="0">
                <a:solidFill>
                  <a:srgbClr val="606060"/>
                </a:solidFill>
                <a:latin typeface="Calibri"/>
              </a:rPr>
              <a:t>That single change gives a detector whose size does not depend on the grid, and which finds attacks in logarithmic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950208"/>
            <a:ext cx="11064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606060"/>
                </a:solidFill>
                <a:latin typeface="Calibri"/>
              </a:rPr>
              <a:t>Target venues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IEEE Trans. Smart Grid  -  IEEE Trans. Industrial Informatics  -  Applied Energy  -  Int. J. Electrical Power and Energy Systems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