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000000"/>
                </a:solidFill>
                <a:latin typeface="Calibri"/>
              </a:rPr>
              <a:t>SCEPTRE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A Recursive Separator-Tree Defence for Load Frequency Control under Stealthy False Data Injection Attacks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3429000"/>
            <a:ext cx="10543032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3703320"/>
            <a:ext cx="5852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606060"/>
                </a:solidFill>
                <a:latin typeface="Calibri"/>
              </a:rPr>
              <a:t>BATCH A-17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A. R. Nirmal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Gunnala Dheeraj Kumar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Meera S Raj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Vishnu Vardhan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70332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606060"/>
                </a:solidFill>
                <a:latin typeface="Calibri"/>
              </a:rPr>
              <a:t>23AID304 - High-Performance and Cloud Computing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Base paper: Cui, Wu and Zhang,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606060"/>
                </a:solidFill>
                <a:latin typeface="Calibri"/>
              </a:rPr>
              <a:t>IEEE Trans. Smart Grid,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-  Load Frequency Control under stealthy FDI                                                                                          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libri"/>
              </a:rPr>
              <a:t>Problem Statement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11064240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·  Load Frequency Control under stealthy FDI                                                                                          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52728"/>
            <a:ext cx="59436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•  Base paper's attack is trivial - roughly doubles a measurement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•  Validated only on IEEE 14-bus - no evidence at real grid scale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•  Repair compared only against random forest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•  Plant is fully linear - no real-world nonlinearity modelled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572768"/>
            <a:ext cx="47548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000000"/>
                </a:solidFill>
                <a:latin typeface="Calibri"/>
              </a:rPr>
              <a:t>18,087x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606060"/>
                </a:solidFill>
                <a:latin typeface="Calibri"/>
              </a:rPr>
              <a:t>the base paper's attack scores this many times over a bad-data detection threshold that has existed since the 1970s</a:t>
            </a:r>
          </a:p>
          <a:p>
            <a:pPr algn="l">
              <a:spcBef>
                <a:spcPts val="1400"/>
              </a:spcBef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A stealthier attack - invisible to that same test - is what actually needs a learned defence.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libri"/>
              </a:rPr>
              <a:t>Literature Survey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1">
                <a:solidFill>
                  <a:srgbClr val="606060"/>
                </a:solidFill>
                <a:latin typeface="Calibri"/>
              </a:rPr>
              <a:t>Base paper and closest related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·  Load Frequency Control under stealthy FDI                                                                                          3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09344"/>
          <a:ext cx="11064240" cy="2394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1148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Ref.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</a:tr>
              <a:tr h="749045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Cui, Wu and Zhang
IEEE TSG, 2025 - base paper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First unified detect-repair-control loop for LFC, 99.78% accuracy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Trivial attack, single topology, DC power flow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Feng, Han, Si and Zhao
IEEE TIM, 2024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Adaptive adversarial autoencoder with graph learning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Detection only - no repair or control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Qu et al.
Applied Energy, 2024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Graph wavelet CNN for attack localization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Scans every bus - O(N) cost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libri"/>
              </a:rPr>
              <a:t>Literature Survey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1">
                <a:solidFill>
                  <a:srgbClr val="606060"/>
                </a:solidFill>
                <a:latin typeface="Calibri"/>
              </a:rPr>
              <a:t>2023-2025 baselines and the gap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·  Load Frequency Control under stealthy FDI                                                                                          4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09344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0350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Ref.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ST-Transformer - Expert Syst. Appl., 2023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Full attention + positional embedding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GraphKAN - Scientific Reports, 2025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Graph attention + Kolmogorov-Arnold network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KAN-AGC - arXiv, 2025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Interpretable spline network for attack detection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KambaAD - OpenReview, 2024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Mamba state-space model for anomaly detection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535424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No prior work uses nested-dissection / separator-tree structure as a neural inductive bias for FDI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libri"/>
              </a:rPr>
              <a:t>Why the Graph Neural Network Was Removed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11064240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·  Load Frequency Control under stealthy FDI                                                                                          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A pre-registered experiment tested topology-aware attention - and it failed in all 4 test cells (n = 5 seeds).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304288"/>
          <a:ext cx="6400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/>
                <a:gridCol w="2176272"/>
                <a:gridCol w="217627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Graph diameter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2-layer GNN sees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case14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5 hops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57%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case30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 hops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case118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14 hops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23760" y="2441448"/>
            <a:ext cx="43891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Message passing loses information as the grid grows.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Our fix: encode the grid the way a sparse solver factorises it - by recursive dissection, not by passing messages along edges.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libri"/>
              </a:rPr>
              <a:t>Contributions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11064240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·  Load Frequency Control under stealthy FDI                                                                                          6 /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98448"/>
          <a:ext cx="11064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241280"/>
              </a:tblGrid>
              <a:tr h="512064">
                <a:tc>
                  <a:txBody>
                    <a:bodyPr wrap="square"/>
                    <a:lstStyle/>
                    <a:p/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RSTE - recursive separator-tree encoder, replaces the GNN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HALO - attack localization in O(k log N) instead of O(N)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NL-LFC - a genuinely nonlinear LFC benchmark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C4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Blind-spot certificate rho(m) - a provable detection guarantee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C5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Stackelberg attacker + safety shield with calibrated uncertainty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libri"/>
              </a:rPr>
              <a:t>Proposed System - SCEPTRE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11064240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·  Load Frequency Control under stealthy FDI                                                                                          7 / 14</a:t>
            </a:r>
          </a:p>
        </p:txBody>
      </p:sp>
      <p:pic>
        <p:nvPicPr>
          <p:cNvPr id="5" name="Picture 4" descr="fig16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966" y="1152144"/>
            <a:ext cx="8149762" cy="51572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libri"/>
              </a:rPr>
              <a:t>C1 - RSTE: Recursive Separator-Tree Encoder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11064240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·  Load Frequency Control under stealthy FDI                                                                                          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57607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Splits the grid recursively at its weakest electrical connections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Same weights reused at every level - parameters do not depend on grid size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Any two buses reach each other in O(log N) hops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Trained once on 14 buses, runs unchanged on 118 buses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1572768"/>
          <a:ext cx="493775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2011679"/>
              </a:tblGrid>
              <a:tr h="384048">
                <a:tc>
                  <a:txBody>
                    <a:bodyPr wrap="square"/>
                    <a:lstStyle/>
                    <a:p/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case14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case118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Tree depth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116,614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116,614 (same)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libri"/>
              </a:rPr>
              <a:t>C2 - HALO: Fast Attack Localization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11064240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·  Load Frequency Control under stealthy FDI                                                                                          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5943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Standard approach: test every single bus - O(N) cost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HALO reuses the separator tree as a search structure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Tests only the branches that show a statistical signal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Cost drops to O(k log N) for k attacked buses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755648"/>
            <a:ext cx="47548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000000"/>
                </a:solidFill>
                <a:latin typeface="Calibri"/>
              </a:rPr>
              <a:t>~11x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606060"/>
                </a:solidFill>
                <a:latin typeface="Calibri"/>
              </a:rPr>
              <a:t>fewer checks needed on a 118-bus grid, compared to testing every bus individually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libri"/>
              </a:rPr>
              <a:t>C3 - NL-LFC: A Realistic Grid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11064240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·  Load Frequency Control under stealthy FDI                                                                                          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The base paper's grid model is linear. Real grids are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12848"/>
            <a:ext cx="11064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Full AC power flow instead of a linear approximation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Governor dead-band, rate limits, and reheat turbine dynamics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Renewable generation modelled as realistic random fluctuation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Communication delay, sensor noise, and quantization on every reading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libri"/>
              </a:rPr>
              <a:t>Experimental Setup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11064240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·  Load Frequency Control under stealthy FDI                                                                                          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•  IEEE 14 / 30 / 57 / 118-bus test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•  10 architectures compared under identical conditions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•  3 random seeds; results reported as mean plus/minus standard deviation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•  Hardware: NVIDIA RTX 5060 (Blackwell), PyTorch, Python 3.10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libri"/>
              </a:rPr>
              <a:t>Results - Detection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1">
                <a:solidFill>
                  <a:srgbClr val="606060"/>
                </a:solidFill>
                <a:latin typeface="Calibri"/>
              </a:rPr>
              <a:t>IEEE 14-bus, 3 seeds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·  Load Frequency Control under stealthy FDI                                                                                          12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09344"/>
          <a:ext cx="6035038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257"/>
                <a:gridCol w="1872943"/>
                <a:gridCol w="1664838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Detection F1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54864" marR="54864" marT="13716" marB="13716" anchor="ctr">
                    <a:solidFill>
                      <a:srgbClr val="EEEEE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GCN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0.982 +/- 0.004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929,670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SCEPTRE (ours)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0.982 +/- 0.008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1,447,110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MSA3E (base paper)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0.974 +/- 0.003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1,380,870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MLP (no topology)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0.986 +/- 0.003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935,046</a:t>
                      </a:r>
                    </a:p>
                  </a:txBody>
                  <a:tcPr marL="54864" marR="54864" marT="13716" marB="13716"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803904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606060"/>
                </a:solidFill>
                <a:latin typeface="Calibri"/>
              </a:rPr>
              <a:t>SCEPTRE beats the base paper significantly, though a plain GCN edges it on this small grid - expected, since the bottleneck SCEPTRE fixes only bites on larger grids.</a:t>
            </a:r>
          </a:p>
        </p:txBody>
      </p:sp>
      <p:pic>
        <p:nvPicPr>
          <p:cNvPr id="8" name="Picture 7" descr="fig10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563624"/>
            <a:ext cx="4709160" cy="14164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3016627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Zero-shot transfer: trained on 14 buses, tested on 118.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libri"/>
              </a:rPr>
              <a:t>Results - What Actually Sets SCEPTRE Apart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11064240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·  Load Frequency Control under stealthy FDI                                                                                          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642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•  Same trained model runs on 14, 30, 57, and 118 buses with zero retraining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•  5 of 10 baseline architectures cannot transfer to a new grid size at all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•  Attack localization cost grows logarithmically, not linearly, with grid size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•  Chi-square residual test catches 0% of stealthy attacks - SCEPTRE's certificate is what actually bounds the risk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000"/>
                </a:solidFill>
                <a:latin typeface="Calibri"/>
              </a:rP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932688"/>
            <a:ext cx="11064240" cy="0"/>
          </a:xfrm>
          <a:prstGeom prst="line">
            <a:avLst/>
          </a:prstGeom>
          <a:ln w="1143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282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06060"/>
                </a:solidFill>
                <a:latin typeface="Calibri"/>
              </a:rPr>
              <a:t>SCEPTRE  ·  Load Frequency Control under stealthy FDI                                                                                          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44168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Encode a power grid the way a sparse solver factorises it - by recursive dissection - not the way a social network is encoded, by passing messages along edges.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>
                <a:solidFill>
                  <a:srgbClr val="606060"/>
                </a:solidFill>
                <a:latin typeface="Calibri"/>
              </a:rPr>
              <a:t>That single change gives a detector whose size does not depend on the grid, and which finds attacks in logarithmic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50208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06060"/>
                </a:solidFill>
                <a:latin typeface="Calibri"/>
              </a:rPr>
              <a:t>Target venues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IEEE Trans. Smart Grid  -  IEEE Trans. Industrial Informatics  -  Applied Energy  -  Int. J. Electrical Power and Energy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